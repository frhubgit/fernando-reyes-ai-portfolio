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2E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B7AB1C-AB6B-D6C3-1CC8-5A39F6969F11}" v="1" dt="2025-12-04T03:49:10.109"/>
    <p1510:client id="{A82550D7-3866-B2D7-1130-8B86F94C3442}" v="418" dt="2025-12-04T03:46:31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E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15.png"/><Relationship Id="rId7" Type="http://schemas.openxmlformats.org/officeDocument/2006/relationships/image" Target="../media/image3.svg"/><Relationship Id="rId12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image" Target="../media/image20.svg"/><Relationship Id="rId4" Type="http://schemas.openxmlformats.org/officeDocument/2006/relationships/image" Target="../media/image16.sv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he Year Ahead in AI: Generative Tech, Robots, Emerging Risks">
            <a:extLst>
              <a:ext uri="{FF2B5EF4-FFF2-40B4-BE49-F238E27FC236}">
                <a16:creationId xmlns:a16="http://schemas.microsoft.com/office/drawing/2014/main" id="{A3317A9E-4805-58AA-6D3A-67312C047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498" y="2179946"/>
            <a:ext cx="3488947" cy="2746531"/>
          </a:xfrm>
          <a:prstGeom prst="rect">
            <a:avLst/>
          </a:prstGeom>
        </p:spPr>
      </p:pic>
      <p:sp>
        <p:nvSpPr>
          <p:cNvPr id="12" name="Text 0">
            <a:extLst>
              <a:ext uri="{FF2B5EF4-FFF2-40B4-BE49-F238E27FC236}">
                <a16:creationId xmlns:a16="http://schemas.microsoft.com/office/drawing/2014/main" id="{4328A998-225F-E9BA-473C-8B1C924794FA}"/>
              </a:ext>
            </a:extLst>
          </p:cNvPr>
          <p:cNvSpPr/>
          <p:nvPr/>
        </p:nvSpPr>
        <p:spPr>
          <a:xfrm>
            <a:off x="440668" y="2386683"/>
            <a:ext cx="77750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Machine Learning Final Exam</a:t>
            </a:r>
            <a:endParaRPr lang="en-US" sz="445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02111EAA-250D-E71D-078C-FDA42FEB6161}"/>
              </a:ext>
            </a:extLst>
          </p:cNvPr>
          <p:cNvSpPr/>
          <p:nvPr/>
        </p:nvSpPr>
        <p:spPr>
          <a:xfrm>
            <a:off x="440668" y="34356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Introduction to ML: Developing Notebook</a:t>
            </a:r>
            <a:endParaRPr lang="en-US" sz="1750" dirty="0"/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03C0B6D2-8612-9AD4-8651-075454DDFDC0}"/>
              </a:ext>
            </a:extLst>
          </p:cNvPr>
          <p:cNvSpPr txBox="1"/>
          <p:nvPr/>
        </p:nvSpPr>
        <p:spPr>
          <a:xfrm>
            <a:off x="334737" y="4072907"/>
            <a:ext cx="788361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2"/>
                </a:solidFill>
                <a:latin typeface="Instrument Sans Medium"/>
                <a:cs typeface="Poppins Light"/>
              </a:rPr>
              <a:t>By Fernando Reyes, Ali Shan, Edwin Marquez, Kendrick Robinson</a:t>
            </a:r>
          </a:p>
          <a:p>
            <a:pPr algn="l"/>
            <a:endParaRPr lang="en-US" dirty="0">
              <a:solidFill>
                <a:schemeClr val="bg2"/>
              </a:solidFill>
              <a:latin typeface="Instrument Sans Medium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2A791-8E33-94DF-BE86-35FBB548B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7ABA4463-089B-70C1-8910-45A8B665A7DC}"/>
              </a:ext>
            </a:extLst>
          </p:cNvPr>
          <p:cNvSpPr/>
          <p:nvPr/>
        </p:nvSpPr>
        <p:spPr>
          <a:xfrm>
            <a:off x="214670" y="1922780"/>
            <a:ext cx="79592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What's This Notebook About?</a:t>
            </a:r>
            <a:endParaRPr lang="en-US" sz="4450" dirty="0"/>
          </a:p>
        </p:txBody>
      </p:sp>
      <p:pic>
        <p:nvPicPr>
          <p:cNvPr id="16" name="Image 0">
            <a:extLst>
              <a:ext uri="{FF2B5EF4-FFF2-40B4-BE49-F238E27FC236}">
                <a16:creationId xmlns:a16="http://schemas.microsoft.com/office/drawing/2014/main" id="{36E2218F-36E6-10F4-3449-F1DD6B5F0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740" y="3170198"/>
            <a:ext cx="340162" cy="340162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BC9B83F4-5DC7-2DB5-E39F-3F3110FE1800}"/>
              </a:ext>
            </a:extLst>
          </p:cNvPr>
          <p:cNvSpPr/>
          <p:nvPr/>
        </p:nvSpPr>
        <p:spPr>
          <a:xfrm>
            <a:off x="951786" y="31630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Solving a Problem</a:t>
            </a:r>
            <a:endParaRPr lang="en-US" sz="22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A3266621-88DF-B17D-6494-BC4E1179FC63}"/>
              </a:ext>
            </a:extLst>
          </p:cNvPr>
          <p:cNvSpPr/>
          <p:nvPr/>
        </p:nvSpPr>
        <p:spPr>
          <a:xfrm>
            <a:off x="951786" y="365347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Using machine learning to predict customer churn (if a customer will leave).</a:t>
            </a:r>
            <a:endParaRPr lang="en-US" sz="1750" dirty="0"/>
          </a:p>
        </p:txBody>
      </p:sp>
      <p:pic>
        <p:nvPicPr>
          <p:cNvPr id="19" name="Image 1">
            <a:extLst>
              <a:ext uri="{FF2B5EF4-FFF2-40B4-BE49-F238E27FC236}">
                <a16:creationId xmlns:a16="http://schemas.microsoft.com/office/drawing/2014/main" id="{10B04680-B0A2-6BE0-9FCD-013D6AF66F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4643" y="3210838"/>
            <a:ext cx="340162" cy="340162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AB5DC30F-D811-E2A9-BA15-FB46BF096539}"/>
              </a:ext>
            </a:extLst>
          </p:cNvPr>
          <p:cNvSpPr/>
          <p:nvPr/>
        </p:nvSpPr>
        <p:spPr>
          <a:xfrm>
            <a:off x="4936688" y="32036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Step-by-Step Guide</a:t>
            </a:r>
            <a:endParaRPr lang="en-US" sz="22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5DF652DB-95C2-45AF-A23A-5B16454F2764}"/>
              </a:ext>
            </a:extLst>
          </p:cNvPr>
          <p:cNvSpPr/>
          <p:nvPr/>
        </p:nvSpPr>
        <p:spPr>
          <a:xfrm>
            <a:off x="4936688" y="3694113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Learn how to prepare data, train models, and check results.</a:t>
            </a:r>
            <a:endParaRPr lang="en-US" sz="1750" dirty="0"/>
          </a:p>
        </p:txBody>
      </p:sp>
      <p:pic>
        <p:nvPicPr>
          <p:cNvPr id="22" name="Image 2">
            <a:extLst>
              <a:ext uri="{FF2B5EF4-FFF2-40B4-BE49-F238E27FC236}">
                <a16:creationId xmlns:a16="http://schemas.microsoft.com/office/drawing/2014/main" id="{2B20B54F-9198-57A9-3F52-08D07F4FB1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8425" y="3190518"/>
            <a:ext cx="340162" cy="340162"/>
          </a:xfrm>
          <a:prstGeom prst="rect">
            <a:avLst/>
          </a:prstGeom>
        </p:spPr>
      </p:pic>
      <p:sp>
        <p:nvSpPr>
          <p:cNvPr id="23" name="Text 8">
            <a:extLst>
              <a:ext uri="{FF2B5EF4-FFF2-40B4-BE49-F238E27FC236}">
                <a16:creationId xmlns:a16="http://schemas.microsoft.com/office/drawing/2014/main" id="{D125283B-1BCF-1406-6723-D3E0A8CC85DB}"/>
              </a:ext>
            </a:extLst>
          </p:cNvPr>
          <p:cNvSpPr/>
          <p:nvPr/>
        </p:nvSpPr>
        <p:spPr>
          <a:xfrm>
            <a:off x="8850471" y="31833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Real-World Skills</a:t>
            </a:r>
            <a:endParaRPr lang="en-US" sz="22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59D3CC8B-A15D-C922-7A26-8FFDFBDC4006}"/>
              </a:ext>
            </a:extLst>
          </p:cNvPr>
          <p:cNvSpPr/>
          <p:nvPr/>
        </p:nvSpPr>
        <p:spPr>
          <a:xfrm>
            <a:off x="8850471" y="367379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Practice essential steps for building and evaluating ML solutions.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472518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>
            <a:extLst>
              <a:ext uri="{FF2B5EF4-FFF2-40B4-BE49-F238E27FC236}">
                <a16:creationId xmlns:a16="http://schemas.microsoft.com/office/drawing/2014/main" id="{C366B1B4-D868-45F9-EC29-8EC6BDB86F3E}"/>
              </a:ext>
            </a:extLst>
          </p:cNvPr>
          <p:cNvSpPr/>
          <p:nvPr/>
        </p:nvSpPr>
        <p:spPr>
          <a:xfrm>
            <a:off x="366327" y="15746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Our Practice Dataset</a:t>
            </a:r>
            <a:endParaRPr lang="en-US" sz="445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8C2BFC33-4EB2-DD67-DC82-53AF8E5B55CD}"/>
              </a:ext>
            </a:extLst>
          </p:cNvPr>
          <p:cNvSpPr/>
          <p:nvPr/>
        </p:nvSpPr>
        <p:spPr>
          <a:xfrm>
            <a:off x="366327" y="26236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We're using a made-up dataset that looks like real customer information.</a:t>
            </a:r>
            <a:endParaRPr lang="en-US" sz="1750" dirty="0"/>
          </a:p>
        </p:txBody>
      </p:sp>
      <p:pic>
        <p:nvPicPr>
          <p:cNvPr id="26" name="Image 0">
            <a:extLst>
              <a:ext uri="{FF2B5EF4-FFF2-40B4-BE49-F238E27FC236}">
                <a16:creationId xmlns:a16="http://schemas.microsoft.com/office/drawing/2014/main" id="{9EDB352E-9504-D265-7C12-8F2CB346A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47" y="3241660"/>
            <a:ext cx="121920" cy="2093714"/>
          </a:xfrm>
          <a:prstGeom prst="rect">
            <a:avLst/>
          </a:prstGeom>
        </p:spPr>
      </p:pic>
      <p:sp>
        <p:nvSpPr>
          <p:cNvPr id="27" name="Text 3">
            <a:extLst>
              <a:ext uri="{FF2B5EF4-FFF2-40B4-BE49-F238E27FC236}">
                <a16:creationId xmlns:a16="http://schemas.microsoft.com/office/drawing/2014/main" id="{2C1979DC-4087-C88A-1915-8ED969550ED0}"/>
              </a:ext>
            </a:extLst>
          </p:cNvPr>
          <p:cNvSpPr/>
          <p:nvPr/>
        </p:nvSpPr>
        <p:spPr>
          <a:xfrm>
            <a:off x="715061" y="3498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Mixed Data</a:t>
            </a:r>
            <a:endParaRPr lang="en-US" sz="22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A4F2EAF3-B9D3-12A2-DA6A-6E02FCF644D1}"/>
              </a:ext>
            </a:extLst>
          </p:cNvPr>
          <p:cNvSpPr/>
          <p:nvPr/>
        </p:nvSpPr>
        <p:spPr>
          <a:xfrm>
            <a:off x="715061" y="3989372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Includes numbers (like age, income) and categories (like region, plan type).</a:t>
            </a:r>
            <a:endParaRPr lang="en-US" sz="1750" dirty="0"/>
          </a:p>
        </p:txBody>
      </p:sp>
      <p:pic>
        <p:nvPicPr>
          <p:cNvPr id="29" name="Image 1">
            <a:extLst>
              <a:ext uri="{FF2B5EF4-FFF2-40B4-BE49-F238E27FC236}">
                <a16:creationId xmlns:a16="http://schemas.microsoft.com/office/drawing/2014/main" id="{5031B0C2-3B2E-12FB-BD3E-38C9B92C7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580" y="3241660"/>
            <a:ext cx="121920" cy="2093714"/>
          </a:xfrm>
          <a:prstGeom prst="rect">
            <a:avLst/>
          </a:prstGeom>
        </p:spPr>
      </p:pic>
      <p:sp>
        <p:nvSpPr>
          <p:cNvPr id="30" name="Text 6">
            <a:extLst>
              <a:ext uri="{FF2B5EF4-FFF2-40B4-BE49-F238E27FC236}">
                <a16:creationId xmlns:a16="http://schemas.microsoft.com/office/drawing/2014/main" id="{9BE9EE8F-7C12-010B-67B9-2ABCDD355226}"/>
              </a:ext>
            </a:extLst>
          </p:cNvPr>
          <p:cNvSpPr/>
          <p:nvPr/>
        </p:nvSpPr>
        <p:spPr>
          <a:xfrm>
            <a:off x="4933794" y="3498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Some Missing Info</a:t>
            </a:r>
            <a:endParaRPr lang="en-US" sz="22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27FC692A-0A61-AE1A-2713-9DD37E014415}"/>
              </a:ext>
            </a:extLst>
          </p:cNvPr>
          <p:cNvSpPr/>
          <p:nvPr/>
        </p:nvSpPr>
        <p:spPr>
          <a:xfrm>
            <a:off x="4933794" y="3989372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Just like real data, some parts are missing, which we'll fix.</a:t>
            </a:r>
            <a:endParaRPr lang="en-US" sz="1750" dirty="0"/>
          </a:p>
        </p:txBody>
      </p:sp>
      <p:pic>
        <p:nvPicPr>
          <p:cNvPr id="32" name="Image 2">
            <a:extLst>
              <a:ext uri="{FF2B5EF4-FFF2-40B4-BE49-F238E27FC236}">
                <a16:creationId xmlns:a16="http://schemas.microsoft.com/office/drawing/2014/main" id="{BCEB75B5-3411-0E9D-63E6-97D1FF7C0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507" y="3241660"/>
            <a:ext cx="121920" cy="2093714"/>
          </a:xfrm>
          <a:prstGeom prst="rect">
            <a:avLst/>
          </a:prstGeom>
        </p:spPr>
      </p:pic>
      <p:sp>
        <p:nvSpPr>
          <p:cNvPr id="33" name="Text 9">
            <a:extLst>
              <a:ext uri="{FF2B5EF4-FFF2-40B4-BE49-F238E27FC236}">
                <a16:creationId xmlns:a16="http://schemas.microsoft.com/office/drawing/2014/main" id="{07CC4C25-7BB6-3EBC-87A9-947B8BD5E110}"/>
              </a:ext>
            </a:extLst>
          </p:cNvPr>
          <p:cNvSpPr/>
          <p:nvPr/>
        </p:nvSpPr>
        <p:spPr>
          <a:xfrm>
            <a:off x="8650722" y="3498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Churn Prediction</a:t>
            </a:r>
            <a:endParaRPr lang="en-US" sz="22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7EF18B5B-94E2-A2E9-85F1-29144C7BDB2D}"/>
              </a:ext>
            </a:extLst>
          </p:cNvPr>
          <p:cNvSpPr/>
          <p:nvPr/>
        </p:nvSpPr>
        <p:spPr>
          <a:xfrm>
            <a:off x="8650722" y="3989372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customer has a "target" label: whether they churned or not.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26822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C3352FB-51F4-764F-6CC6-B1E12C85AA1E}"/>
              </a:ext>
            </a:extLst>
          </p:cNvPr>
          <p:cNvSpPr/>
          <p:nvPr/>
        </p:nvSpPr>
        <p:spPr>
          <a:xfrm>
            <a:off x="387390" y="1461333"/>
            <a:ext cx="74710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Step 1: Data Preparation</a:t>
            </a:r>
            <a:endParaRPr lang="en-US" sz="4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FECB7B4-585D-CED4-E58F-5F9FF67F42BD}"/>
              </a:ext>
            </a:extLst>
          </p:cNvPr>
          <p:cNvSpPr/>
          <p:nvPr/>
        </p:nvSpPr>
        <p:spPr>
          <a:xfrm>
            <a:off x="387390" y="25102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Before training, we clean and organize our data.</a:t>
            </a:r>
            <a:endParaRPr lang="en-US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F8C9EE3-E60A-EF03-DD8F-15FC3698EC62}"/>
              </a:ext>
            </a:extLst>
          </p:cNvPr>
          <p:cNvSpPr/>
          <p:nvPr/>
        </p:nvSpPr>
        <p:spPr>
          <a:xfrm>
            <a:off x="387390" y="312832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35938D3B-C36A-058F-8D77-D8B7B20DA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10" y="3483372"/>
            <a:ext cx="4196358" cy="3048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8FE2ECA3-ED5A-1F96-EF29-184B266B0DF7}"/>
              </a:ext>
            </a:extLst>
          </p:cNvPr>
          <p:cNvSpPr/>
          <p:nvPr/>
        </p:nvSpPr>
        <p:spPr>
          <a:xfrm>
            <a:off x="387390" y="36576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Split Data</a:t>
            </a:r>
            <a:endParaRPr lang="en-US" sz="24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49CB654-4EA3-1F02-7A57-C37128D04E11}"/>
              </a:ext>
            </a:extLst>
          </p:cNvPr>
          <p:cNvSpPr/>
          <p:nvPr/>
        </p:nvSpPr>
        <p:spPr>
          <a:xfrm>
            <a:off x="387390" y="4148098"/>
            <a:ext cx="26669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Divide into training (60%), validation (20%), and testing (20%) sets.</a:t>
            </a:r>
            <a:endParaRPr lang="en-US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A3431C2-6305-B9C5-EECD-7F731ECCBF33}"/>
              </a:ext>
            </a:extLst>
          </p:cNvPr>
          <p:cNvSpPr/>
          <p:nvPr/>
        </p:nvSpPr>
        <p:spPr>
          <a:xfrm>
            <a:off x="3642162" y="312832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dirty="0"/>
          </a:p>
        </p:txBody>
      </p:sp>
      <p:pic>
        <p:nvPicPr>
          <p:cNvPr id="11" name="Image 1">
            <a:extLst>
              <a:ext uri="{FF2B5EF4-FFF2-40B4-BE49-F238E27FC236}">
                <a16:creationId xmlns:a16="http://schemas.microsoft.com/office/drawing/2014/main" id="{7EEF61F7-D372-4810-245E-8150D15B0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162" y="3483372"/>
            <a:ext cx="4196358" cy="30480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8190536D-0DF8-92CC-A911-2223C9E46C55}"/>
              </a:ext>
            </a:extLst>
          </p:cNvPr>
          <p:cNvSpPr/>
          <p:nvPr/>
        </p:nvSpPr>
        <p:spPr>
          <a:xfrm>
            <a:off x="3642162" y="36576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Handle Missing Data</a:t>
            </a:r>
            <a:endParaRPr lang="en-US" sz="24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E7E9FEF0-7E92-65EA-E0DB-BEC173E96D48}"/>
              </a:ext>
            </a:extLst>
          </p:cNvPr>
          <p:cNvSpPr/>
          <p:nvPr/>
        </p:nvSpPr>
        <p:spPr>
          <a:xfrm>
            <a:off x="3642162" y="414809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Fill in gaps using smart methods (like median for numbers, most common for categories).</a:t>
            </a:r>
            <a:endParaRPr lang="en-US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CD8DA279-6FC7-6B71-70FD-3961AFEF2704}"/>
              </a:ext>
            </a:extLst>
          </p:cNvPr>
          <p:cNvSpPr/>
          <p:nvPr/>
        </p:nvSpPr>
        <p:spPr>
          <a:xfrm>
            <a:off x="8034853" y="312832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dirty="0"/>
          </a:p>
        </p:txBody>
      </p:sp>
      <p:pic>
        <p:nvPicPr>
          <p:cNvPr id="15" name="Image 2">
            <a:extLst>
              <a:ext uri="{FF2B5EF4-FFF2-40B4-BE49-F238E27FC236}">
                <a16:creationId xmlns:a16="http://schemas.microsoft.com/office/drawing/2014/main" id="{B13E4350-5CDA-60A0-2A12-E28606662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853" y="3483372"/>
            <a:ext cx="4196358" cy="30480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949DDBEF-73DD-8E54-6C0A-684E6A2B445B}"/>
              </a:ext>
            </a:extLst>
          </p:cNvPr>
          <p:cNvSpPr/>
          <p:nvPr/>
        </p:nvSpPr>
        <p:spPr>
          <a:xfrm>
            <a:off x="8034853" y="36576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Transform Data</a:t>
            </a:r>
            <a:endParaRPr lang="en-US" sz="24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D6075826-914E-D25A-0696-984708FAA091}"/>
              </a:ext>
            </a:extLst>
          </p:cNvPr>
          <p:cNvSpPr/>
          <p:nvPr/>
        </p:nvSpPr>
        <p:spPr>
          <a:xfrm>
            <a:off x="8034853" y="414809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Convert text categories into numbers and scale all numbers so they're comparable.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956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E388C63B-5427-C178-CEDC-FA9054F3E8EC}"/>
              </a:ext>
            </a:extLst>
          </p:cNvPr>
          <p:cNvSpPr/>
          <p:nvPr/>
        </p:nvSpPr>
        <p:spPr>
          <a:xfrm>
            <a:off x="316270" y="1337191"/>
            <a:ext cx="83992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Step 2: Training Our Models</a:t>
            </a:r>
            <a:endParaRPr lang="en-US" sz="445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74B5A771-C57F-27D2-8A11-74826B915810}"/>
              </a:ext>
            </a:extLst>
          </p:cNvPr>
          <p:cNvSpPr/>
          <p:nvPr/>
        </p:nvSpPr>
        <p:spPr>
          <a:xfrm>
            <a:off x="316270" y="23861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 use two different machine learning models to learn from the data.</a:t>
            </a:r>
            <a:endParaRPr lang="en-US" sz="175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DD2E8960-1FDB-D7C9-6EEB-F7CB9BC42FE2}"/>
              </a:ext>
            </a:extLst>
          </p:cNvPr>
          <p:cNvSpPr/>
          <p:nvPr/>
        </p:nvSpPr>
        <p:spPr>
          <a:xfrm>
            <a:off x="317024" y="32386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B5E4411A-0F03-4183-29B4-137F89FE2A5D}"/>
              </a:ext>
            </a:extLst>
          </p:cNvPr>
          <p:cNvSpPr/>
          <p:nvPr/>
        </p:nvSpPr>
        <p:spPr>
          <a:xfrm>
            <a:off x="317024" y="3729037"/>
            <a:ext cx="60601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simpler model, good for understanding how different factors influence churn.</a:t>
            </a:r>
            <a:endParaRPr lang="en-US" sz="175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2F2A0CF1-5192-4254-6AAC-091ABC39816D}"/>
              </a:ext>
            </a:extLst>
          </p:cNvPr>
          <p:cNvSpPr/>
          <p:nvPr/>
        </p:nvSpPr>
        <p:spPr>
          <a:xfrm>
            <a:off x="6251694" y="32386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9C4AB5E0-F5EE-9E9B-CE8D-AF04500301FE}"/>
              </a:ext>
            </a:extLst>
          </p:cNvPr>
          <p:cNvSpPr/>
          <p:nvPr/>
        </p:nvSpPr>
        <p:spPr>
          <a:xfrm>
            <a:off x="6251694" y="3729037"/>
            <a:ext cx="60601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more complex model that uses many "decision trees" to make predictions.</a:t>
            </a:r>
            <a:endParaRPr lang="en-US" sz="175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25FFCAF-7C00-6268-068F-FDBFCFE8945F}"/>
              </a:ext>
            </a:extLst>
          </p:cNvPr>
          <p:cNvSpPr/>
          <p:nvPr/>
        </p:nvSpPr>
        <p:spPr>
          <a:xfrm>
            <a:off x="316270" y="49444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 "tune" these models to find the best settings for accuracy.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862173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74F5832-C8CC-30DC-7764-FDDFA1EEF342}"/>
              </a:ext>
            </a:extLst>
          </p:cNvPr>
          <p:cNvSpPr/>
          <p:nvPr/>
        </p:nvSpPr>
        <p:spPr>
          <a:xfrm>
            <a:off x="214670" y="905073"/>
            <a:ext cx="75096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Results: Model Performance</a:t>
            </a:r>
            <a:endParaRPr lang="en-US" sz="44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8BB3F05-82BB-A675-A163-398A09563E2E}"/>
              </a:ext>
            </a:extLst>
          </p:cNvPr>
          <p:cNvSpPr/>
          <p:nvPr/>
        </p:nvSpPr>
        <p:spPr>
          <a:xfrm>
            <a:off x="214670" y="20674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After training, we check how well our models predict churn.</a:t>
            </a:r>
            <a:endParaRPr lang="en-US" sz="17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BD7A034-DC6E-24DC-0A41-5728B611F432}"/>
              </a:ext>
            </a:extLst>
          </p:cNvPr>
          <p:cNvSpPr/>
          <p:nvPr/>
        </p:nvSpPr>
        <p:spPr>
          <a:xfrm>
            <a:off x="214670" y="29123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Best Model Settings</a:t>
            </a:r>
            <a:endParaRPr lang="en-US" sz="2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1F8EABF-1E4E-8E91-5762-E16CF79BB5F7}"/>
              </a:ext>
            </a:extLst>
          </p:cNvPr>
          <p:cNvSpPr/>
          <p:nvPr/>
        </p:nvSpPr>
        <p:spPr>
          <a:xfrm>
            <a:off x="214670" y="3493492"/>
            <a:ext cx="624470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Logistic Regression: </a:t>
            </a:r>
            <a:r>
              <a:rPr lang="en-US" sz="1750" dirty="0">
                <a:solidFill>
                  <a:srgbClr val="CFD0D8"/>
                </a:solidFill>
                <a:highlight>
                  <a:srgbClr val="3737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C=0.1</a:t>
            </a: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(AUC: 0.9676)</a:t>
            </a:r>
            <a:endParaRPr lang="en-US" sz="17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99EC96E-4155-41DB-2B82-DB470BEA16FE}"/>
              </a:ext>
            </a:extLst>
          </p:cNvPr>
          <p:cNvSpPr/>
          <p:nvPr/>
        </p:nvSpPr>
        <p:spPr>
          <a:xfrm>
            <a:off x="214670" y="3958550"/>
            <a:ext cx="6244709" cy="748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Random Forest: </a:t>
            </a:r>
            <a:r>
              <a:rPr lang="en-US" sz="1750" dirty="0">
                <a:solidFill>
                  <a:srgbClr val="CFD0D8"/>
                </a:solidFill>
                <a:highlight>
                  <a:srgbClr val="3737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max_depth=10, n_estimators=200</a:t>
            </a: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(AUC: 0.9781)</a:t>
            </a:r>
            <a:endParaRPr lang="en-US" sz="17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594F546-776D-9288-E66D-FB822B24801D}"/>
              </a:ext>
            </a:extLst>
          </p:cNvPr>
          <p:cNvSpPr/>
          <p:nvPr/>
        </p:nvSpPr>
        <p:spPr>
          <a:xfrm>
            <a:off x="214670" y="491128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Random Forest model performed slightly better on our validation data.</a:t>
            </a:r>
            <a:endParaRPr lang="en-US" sz="1750" dirty="0"/>
          </a:p>
        </p:txBody>
      </p:sp>
      <p:pic>
        <p:nvPicPr>
          <p:cNvPr id="10" name="Picture 9" descr="A crown on top of a tree&#10;&#10;AI-generated content may be incorrect.">
            <a:extLst>
              <a:ext uri="{FF2B5EF4-FFF2-40B4-BE49-F238E27FC236}">
                <a16:creationId xmlns:a16="http://schemas.microsoft.com/office/drawing/2014/main" id="{AC453A52-519B-BA7B-F3F4-674AF930CF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28" r="-175" b="7711"/>
          <a:stretch>
            <a:fillRect/>
          </a:stretch>
        </p:blipFill>
        <p:spPr>
          <a:xfrm>
            <a:off x="7062847" y="1304606"/>
            <a:ext cx="4720285" cy="436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55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>
            <a:extLst>
              <a:ext uri="{FF2B5EF4-FFF2-40B4-BE49-F238E27FC236}">
                <a16:creationId xmlns:a16="http://schemas.microsoft.com/office/drawing/2014/main" id="{15D3E0BE-822D-5B9A-3F68-A2B880E06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772" y="2685992"/>
            <a:ext cx="4244856" cy="3752572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6004EC5C-6CBB-0579-89A3-E4D133309695}"/>
              </a:ext>
            </a:extLst>
          </p:cNvPr>
          <p:cNvSpPr/>
          <p:nvPr/>
        </p:nvSpPr>
        <p:spPr>
          <a:xfrm>
            <a:off x="2569644" y="377876"/>
            <a:ext cx="6781443" cy="688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Results: Test Performance</a:t>
            </a:r>
            <a:endParaRPr lang="en-US" sz="43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A540ACE-434D-4AD6-C0D8-90A4552CCE55}"/>
              </a:ext>
            </a:extLst>
          </p:cNvPr>
          <p:cNvSpPr/>
          <p:nvPr/>
        </p:nvSpPr>
        <p:spPr>
          <a:xfrm>
            <a:off x="2569644" y="1112214"/>
            <a:ext cx="760190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 use the best model on completely new data (test set) to see its true performance.</a:t>
            </a:r>
            <a:endParaRPr lang="en-US" sz="17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9A28A9D-A12C-8795-22B9-4817E57BB661}"/>
              </a:ext>
            </a:extLst>
          </p:cNvPr>
          <p:cNvSpPr/>
          <p:nvPr/>
        </p:nvSpPr>
        <p:spPr>
          <a:xfrm>
            <a:off x="2569644" y="1719393"/>
            <a:ext cx="7601902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ROC-AUC: 0.9655</a:t>
            </a:r>
            <a:endParaRPr lang="en-US" sz="1700" dirty="0"/>
          </a:p>
        </p:txBody>
      </p:sp>
      <p:pic>
        <p:nvPicPr>
          <p:cNvPr id="8" name="Image 2">
            <a:extLst>
              <a:ext uri="{FF2B5EF4-FFF2-40B4-BE49-F238E27FC236}">
                <a16:creationId xmlns:a16="http://schemas.microsoft.com/office/drawing/2014/main" id="{BAC7CB2D-3164-A2A7-9468-E907FA295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657" y="2649101"/>
            <a:ext cx="3909060" cy="383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0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EB3FC96-A127-A19A-76B2-FEC216C08E88}"/>
              </a:ext>
            </a:extLst>
          </p:cNvPr>
          <p:cNvSpPr/>
          <p:nvPr/>
        </p:nvSpPr>
        <p:spPr>
          <a:xfrm>
            <a:off x="224830" y="1250275"/>
            <a:ext cx="80981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Do These Results Mean?</a:t>
            </a:r>
            <a:endParaRPr lang="en-US" sz="44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7F7CF7B-053A-EE39-4ACF-C83FEEE495EF}"/>
              </a:ext>
            </a:extLst>
          </p:cNvPr>
          <p:cNvSpPr/>
          <p:nvPr/>
        </p:nvSpPr>
        <p:spPr>
          <a:xfrm>
            <a:off x="339884" y="31979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Random Forest Wins</a:t>
            </a:r>
            <a:endParaRPr lang="en-US" sz="2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983DED6-2FFC-4048-B981-F1DE94F8F2EF}"/>
              </a:ext>
            </a:extLst>
          </p:cNvPr>
          <p:cNvSpPr/>
          <p:nvPr/>
        </p:nvSpPr>
        <p:spPr>
          <a:xfrm>
            <a:off x="339884" y="368831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 was slightly better at predicting churn, likely because it can find more complex patterns.</a:t>
            </a:r>
            <a:endParaRPr lang="en-US" sz="1750" dirty="0"/>
          </a:p>
        </p:txBody>
      </p:sp>
      <p:pic>
        <p:nvPicPr>
          <p:cNvPr id="8" name="Image 3">
            <a:extLst>
              <a:ext uri="{FF2B5EF4-FFF2-40B4-BE49-F238E27FC236}">
                <a16:creationId xmlns:a16="http://schemas.microsoft.com/office/drawing/2014/main" id="{CA124A9F-3956-3B23-C4EE-1F8A13913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482" y="2600444"/>
            <a:ext cx="3160038" cy="12192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84CF121A-CE5F-BAC9-3661-E7178EB96BC6}"/>
              </a:ext>
            </a:extLst>
          </p:cNvPr>
          <p:cNvSpPr/>
          <p:nvPr/>
        </p:nvSpPr>
        <p:spPr>
          <a:xfrm>
            <a:off x="4427776" y="31979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ROC-AUC is Key</a:t>
            </a:r>
            <a:endParaRPr lang="en-US" sz="2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C73EC80-D305-8393-9BD8-0BB728A08F6E}"/>
              </a:ext>
            </a:extLst>
          </p:cNvPr>
          <p:cNvSpPr/>
          <p:nvPr/>
        </p:nvSpPr>
        <p:spPr>
          <a:xfrm>
            <a:off x="4427776" y="3688318"/>
            <a:ext cx="30416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metric helps us see how well the model tells the difference between churners and non-churners, especially important when one group is smaller.</a:t>
            </a:r>
            <a:endParaRPr lang="en-US" sz="1750" dirty="0"/>
          </a:p>
        </p:txBody>
      </p:sp>
      <p:pic>
        <p:nvPicPr>
          <p:cNvPr id="12" name="Image 6">
            <a:extLst>
              <a:ext uri="{FF2B5EF4-FFF2-40B4-BE49-F238E27FC236}">
                <a16:creationId xmlns:a16="http://schemas.microsoft.com/office/drawing/2014/main" id="{CBFDB772-E508-379F-8276-8E1D94A20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853" y="2600444"/>
            <a:ext cx="4196358" cy="12192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BFAAE4B6-1A7F-91FB-905E-77777C1A0AB3}"/>
              </a:ext>
            </a:extLst>
          </p:cNvPr>
          <p:cNvSpPr/>
          <p:nvPr/>
        </p:nvSpPr>
        <p:spPr>
          <a:xfrm>
            <a:off x="7834947" y="3035340"/>
            <a:ext cx="31705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Class Imbalance</a:t>
            </a:r>
            <a:endParaRPr lang="en-US" sz="22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98F385EB-327C-7B08-A751-FC5BE199211A}"/>
              </a:ext>
            </a:extLst>
          </p:cNvPr>
          <p:cNvSpPr/>
          <p:nvPr/>
        </p:nvSpPr>
        <p:spPr>
          <a:xfrm>
            <a:off x="7834947" y="3525758"/>
            <a:ext cx="411865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If churners are rare, we might need special techniques to make sure the model doesn't ignore them.</a:t>
            </a:r>
            <a:endParaRPr lang="en-US" sz="1750" dirty="0"/>
          </a:p>
        </p:txBody>
      </p:sp>
      <p:pic>
        <p:nvPicPr>
          <p:cNvPr id="15" name="Image 3">
            <a:extLst>
              <a:ext uri="{FF2B5EF4-FFF2-40B4-BE49-F238E27FC236}">
                <a16:creationId xmlns:a16="http://schemas.microsoft.com/office/drawing/2014/main" id="{AA794A21-98E9-322C-CCEE-0F689AD22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2" y="2600444"/>
            <a:ext cx="4196358" cy="12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174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82E49EF-B7DB-00C4-64A1-0C2400E3BA5D}"/>
              </a:ext>
            </a:extLst>
          </p:cNvPr>
          <p:cNvSpPr/>
          <p:nvPr/>
        </p:nvSpPr>
        <p:spPr>
          <a:xfrm>
            <a:off x="247333" y="214670"/>
            <a:ext cx="9347121" cy="619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Learning Points from the ML Project</a:t>
            </a:r>
            <a:endParaRPr lang="en-US" sz="3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C3FE352-5613-B6A8-2FF7-DC7936232209}"/>
              </a:ext>
            </a:extLst>
          </p:cNvPr>
          <p:cNvSpPr/>
          <p:nvPr/>
        </p:nvSpPr>
        <p:spPr>
          <a:xfrm>
            <a:off x="247333" y="987504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journey through this machine learning project provided valuable lessons about the entire ML process and its real-world complexities.</a:t>
            </a:r>
            <a:endParaRPr lang="en-US" sz="15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F8A8B4C-E8F8-62EA-EFDE-14E84DA4C41F}"/>
              </a:ext>
            </a:extLst>
          </p:cNvPr>
          <p:cNvSpPr/>
          <p:nvPr/>
        </p:nvSpPr>
        <p:spPr>
          <a:xfrm>
            <a:off x="-167005" y="1676360"/>
            <a:ext cx="3803452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Preparation is Foundational</a:t>
            </a:r>
            <a:endParaRPr lang="en-US" sz="19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752CDF0-4F36-63BA-65A8-BE44B1358BAC}"/>
              </a:ext>
            </a:extLst>
          </p:cNvPr>
          <p:cNvSpPr/>
          <p:nvPr/>
        </p:nvSpPr>
        <p:spPr>
          <a:xfrm>
            <a:off x="308293" y="2166183"/>
            <a:ext cx="3328154" cy="158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4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 learned that meticulous data cleaning, feature engineering, and understanding data distributions are crucial first steps. Ignoring these can lead to flawed models, regardless of algorithm choice.</a:t>
            </a:r>
            <a:endParaRPr lang="en-US" sz="1550" dirty="0"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856BC216-35B5-CA38-E53E-292C33D1B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447" y="1681956"/>
            <a:ext cx="4634508" cy="4634508"/>
          </a:xfrm>
          <a:prstGeom prst="rect">
            <a:avLst/>
          </a:prstGeom>
        </p:spPr>
      </p:pic>
      <p:pic>
        <p:nvPicPr>
          <p:cNvPr id="9" name="Image 1">
            <a:extLst>
              <a:ext uri="{FF2B5EF4-FFF2-40B4-BE49-F238E27FC236}">
                <a16:creationId xmlns:a16="http://schemas.microsoft.com/office/drawing/2014/main" id="{702C42CB-07C0-5B35-4B0F-B80142E94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0363" y="3015873"/>
            <a:ext cx="278963" cy="278963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A9EA14FD-2A29-43BA-4994-8FBB5DB4599E}"/>
              </a:ext>
            </a:extLst>
          </p:cNvPr>
          <p:cNvSpPr/>
          <p:nvPr/>
        </p:nvSpPr>
        <p:spPr>
          <a:xfrm>
            <a:off x="8270954" y="1710809"/>
            <a:ext cx="3023592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Choosing the Right Model</a:t>
            </a:r>
            <a:endParaRPr lang="en-US" sz="19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E66827A8-854F-2996-5308-831DBF618992}"/>
              </a:ext>
            </a:extLst>
          </p:cNvPr>
          <p:cNvSpPr/>
          <p:nvPr/>
        </p:nvSpPr>
        <p:spPr>
          <a:xfrm>
            <a:off x="8270954" y="2088872"/>
            <a:ext cx="3368913" cy="1863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project highlighted that there's no one-size-fits-all model. Understanding the strengths and weaknesses of simpler versus complex algorithms, and when each is appropriate, is vital for effective problem-solving.</a:t>
            </a:r>
            <a:endParaRPr lang="en-US" sz="1550" dirty="0"/>
          </a:p>
        </p:txBody>
      </p:sp>
      <p:pic>
        <p:nvPicPr>
          <p:cNvPr id="12" name="Image 2">
            <a:extLst>
              <a:ext uri="{FF2B5EF4-FFF2-40B4-BE49-F238E27FC236}">
                <a16:creationId xmlns:a16="http://schemas.microsoft.com/office/drawing/2014/main" id="{E8D972BD-5CD5-C251-BA43-5D669D0772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6447" y="1681956"/>
            <a:ext cx="4634508" cy="4634508"/>
          </a:xfrm>
          <a:prstGeom prst="rect">
            <a:avLst/>
          </a:prstGeom>
        </p:spPr>
      </p:pic>
      <p:pic>
        <p:nvPicPr>
          <p:cNvPr id="13" name="Image 3">
            <a:extLst>
              <a:ext uri="{FF2B5EF4-FFF2-40B4-BE49-F238E27FC236}">
                <a16:creationId xmlns:a16="http://schemas.microsoft.com/office/drawing/2014/main" id="{054E5A89-66B5-F7AE-8790-D3D08C83FE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7955" y="3015873"/>
            <a:ext cx="278963" cy="278963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864765FA-D316-20EF-BCA8-4C385430DDC0}"/>
              </a:ext>
            </a:extLst>
          </p:cNvPr>
          <p:cNvSpPr/>
          <p:nvPr/>
        </p:nvSpPr>
        <p:spPr>
          <a:xfrm>
            <a:off x="8270954" y="4147979"/>
            <a:ext cx="4199215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Beyond Accuracy: Proper Evaluation</a:t>
            </a:r>
            <a:endParaRPr lang="en-US" sz="195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D127D152-256A-8B5B-8C79-DACC9C532417}"/>
              </a:ext>
            </a:extLst>
          </p:cNvPr>
          <p:cNvSpPr/>
          <p:nvPr/>
        </p:nvSpPr>
        <p:spPr>
          <a:xfrm>
            <a:off x="8270954" y="4607322"/>
            <a:ext cx="3572113" cy="18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Evaluating models goes beyond simple accuracy. We discovered the importance of metrics like ROC-AUC, precision, recall, and F1-score, especially with imbalanced datasets, to truly understand a model's performance in a real-world context.</a:t>
            </a:r>
            <a:endParaRPr lang="en-US" sz="1550" dirty="0"/>
          </a:p>
        </p:txBody>
      </p:sp>
      <p:pic>
        <p:nvPicPr>
          <p:cNvPr id="16" name="Image 4">
            <a:extLst>
              <a:ext uri="{FF2B5EF4-FFF2-40B4-BE49-F238E27FC236}">
                <a16:creationId xmlns:a16="http://schemas.microsoft.com/office/drawing/2014/main" id="{3145B45B-1BD6-6FF0-2ABD-396677B798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6447" y="1681956"/>
            <a:ext cx="4634508" cy="4634508"/>
          </a:xfrm>
          <a:prstGeom prst="rect">
            <a:avLst/>
          </a:prstGeom>
        </p:spPr>
      </p:pic>
      <p:pic>
        <p:nvPicPr>
          <p:cNvPr id="17" name="Image 5">
            <a:extLst>
              <a:ext uri="{FF2B5EF4-FFF2-40B4-BE49-F238E27FC236}">
                <a16:creationId xmlns:a16="http://schemas.microsoft.com/office/drawing/2014/main" id="{68FBB44D-7244-C1FE-6FC7-EA6BB832F7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57955" y="4703465"/>
            <a:ext cx="278963" cy="278963"/>
          </a:xfrm>
          <a:prstGeom prst="rect">
            <a:avLst/>
          </a:prstGeom>
        </p:spPr>
      </p:pic>
      <p:sp>
        <p:nvSpPr>
          <p:cNvPr id="18" name="Text 8">
            <a:extLst>
              <a:ext uri="{FF2B5EF4-FFF2-40B4-BE49-F238E27FC236}">
                <a16:creationId xmlns:a16="http://schemas.microsoft.com/office/drawing/2014/main" id="{FE9DE9D6-48E7-C57C-3AEB-BF74E304D8A9}"/>
              </a:ext>
            </a:extLst>
          </p:cNvPr>
          <p:cNvSpPr/>
          <p:nvPr/>
        </p:nvSpPr>
        <p:spPr>
          <a:xfrm>
            <a:off x="543203" y="4306570"/>
            <a:ext cx="3093244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Real-World ML Challenges</a:t>
            </a:r>
            <a:endParaRPr lang="en-US" sz="195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59E1EA06-0E57-BA2B-F629-621FCD3F8BB0}"/>
              </a:ext>
            </a:extLst>
          </p:cNvPr>
          <p:cNvSpPr/>
          <p:nvPr/>
        </p:nvSpPr>
        <p:spPr>
          <a:xfrm>
            <a:off x="541973" y="4704953"/>
            <a:ext cx="3094474" cy="1606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4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project exposed us to practical challenges like class imbalance, data drift, and the trade-off between model performance and interpretability, emphasizing that ML is as much art as it is science.</a:t>
            </a:r>
            <a:endParaRPr lang="en-US" sz="1550" dirty="0"/>
          </a:p>
        </p:txBody>
      </p:sp>
      <p:pic>
        <p:nvPicPr>
          <p:cNvPr id="20" name="Image 6">
            <a:extLst>
              <a:ext uri="{FF2B5EF4-FFF2-40B4-BE49-F238E27FC236}">
                <a16:creationId xmlns:a16="http://schemas.microsoft.com/office/drawing/2014/main" id="{91AB36A1-4F94-7F8A-327E-A72D416502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36447" y="1681956"/>
            <a:ext cx="4634508" cy="4634508"/>
          </a:xfrm>
          <a:prstGeom prst="rect">
            <a:avLst/>
          </a:prstGeom>
        </p:spPr>
      </p:pic>
      <p:pic>
        <p:nvPicPr>
          <p:cNvPr id="21" name="Image 7">
            <a:extLst>
              <a:ext uri="{FF2B5EF4-FFF2-40B4-BE49-F238E27FC236}">
                <a16:creationId xmlns:a16="http://schemas.microsoft.com/office/drawing/2014/main" id="{C5E2010C-6DE5-B7DA-E86B-707DD148299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70363" y="4703465"/>
            <a:ext cx="278963" cy="27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10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75</cp:revision>
  <dcterms:created xsi:type="dcterms:W3CDTF">2025-12-04T03:17:44Z</dcterms:created>
  <dcterms:modified xsi:type="dcterms:W3CDTF">2025-12-04T03:56:25Z</dcterms:modified>
</cp:coreProperties>
</file>